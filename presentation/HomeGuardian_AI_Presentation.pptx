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chitype Van Der Leck" panose="020B0604020202020204" charset="0"/>
      <p:regular r:id="rId10"/>
    </p:embeddedFont>
    <p:embeddedFont>
      <p:font typeface="Tomorrow" panose="020B0604020202020204" charset="0"/>
      <p:regular r:id="rId11"/>
    </p:embeddedFont>
    <p:embeddedFont>
      <p:font typeface="Tomorrow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245893" y="2815290"/>
            <a:ext cx="13796213" cy="4656421"/>
            <a:chOff x="0" y="0"/>
            <a:chExt cx="3633571" cy="12263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33570" cy="1226382"/>
            </a:xfrm>
            <a:custGeom>
              <a:avLst/>
              <a:gdLst/>
              <a:ahLst/>
              <a:cxnLst/>
              <a:rect l="l" t="t" r="r" b="b"/>
              <a:pathLst>
                <a:path w="3633570" h="1226382">
                  <a:moveTo>
                    <a:pt x="0" y="0"/>
                  </a:moveTo>
                  <a:lnTo>
                    <a:pt x="3633570" y="0"/>
                  </a:lnTo>
                  <a:lnTo>
                    <a:pt x="3633570" y="1226382"/>
                  </a:lnTo>
                  <a:lnTo>
                    <a:pt x="0" y="1226382"/>
                  </a:lnTo>
                  <a:close/>
                </a:path>
              </a:pathLst>
            </a:custGeom>
            <a:solidFill>
              <a:srgbClr val="FFFFFF">
                <a:alpha val="1098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633571" cy="1274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1304065">
            <a:off x="1156142" y="1120447"/>
            <a:ext cx="2686742" cy="3001440"/>
          </a:xfrm>
          <a:custGeom>
            <a:avLst/>
            <a:gdLst/>
            <a:ahLst/>
            <a:cxnLst/>
            <a:rect l="l" t="t" r="r" b="b"/>
            <a:pathLst>
              <a:path w="2686742" h="3001440">
                <a:moveTo>
                  <a:pt x="0" y="0"/>
                </a:moveTo>
                <a:lnTo>
                  <a:pt x="2686741" y="0"/>
                </a:lnTo>
                <a:lnTo>
                  <a:pt x="2686741" y="3001441"/>
                </a:lnTo>
                <a:lnTo>
                  <a:pt x="0" y="30014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541450">
            <a:off x="14149825" y="6104506"/>
            <a:ext cx="2615300" cy="2761785"/>
          </a:xfrm>
          <a:custGeom>
            <a:avLst/>
            <a:gdLst/>
            <a:ahLst/>
            <a:cxnLst/>
            <a:rect l="l" t="t" r="r" b="b"/>
            <a:pathLst>
              <a:path w="2615300" h="2761785">
                <a:moveTo>
                  <a:pt x="0" y="0"/>
                </a:moveTo>
                <a:lnTo>
                  <a:pt x="2615300" y="0"/>
                </a:lnTo>
                <a:lnTo>
                  <a:pt x="2615300" y="2761785"/>
                </a:lnTo>
                <a:lnTo>
                  <a:pt x="0" y="27617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943935" y="4722435"/>
            <a:ext cx="12110762" cy="2254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71"/>
              </a:lnSpc>
            </a:pPr>
            <a:r>
              <a:rPr lang="en-US" sz="647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HomeGuardian AI: Smart Appliance Care Assistant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25643" y="3312065"/>
            <a:ext cx="11636713" cy="142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17"/>
              </a:lnSpc>
              <a:spcBef>
                <a:spcPct val="0"/>
              </a:spcBef>
            </a:pPr>
            <a:r>
              <a:rPr lang="en-US" sz="8297">
                <a:solidFill>
                  <a:srgbClr val="FFFFFF"/>
                </a:solidFill>
                <a:latin typeface="Architype Van Der Leck"/>
                <a:ea typeface="Architype Van Der Leck"/>
                <a:cs typeface="Architype Van Der Leck"/>
                <a:sym typeface="Architype Van Der Leck"/>
              </a:rPr>
              <a:t>Tips Hindawi</a:t>
            </a:r>
          </a:p>
        </p:txBody>
      </p:sp>
      <p:sp>
        <p:nvSpPr>
          <p:cNvPr id="10" name="Freeform 10"/>
          <p:cNvSpPr/>
          <p:nvPr/>
        </p:nvSpPr>
        <p:spPr>
          <a:xfrm>
            <a:off x="-496166" y="7993829"/>
            <a:ext cx="4526072" cy="2528943"/>
          </a:xfrm>
          <a:custGeom>
            <a:avLst/>
            <a:gdLst/>
            <a:ahLst/>
            <a:cxnLst/>
            <a:rect l="l" t="t" r="r" b="b"/>
            <a:pathLst>
              <a:path w="4526072" h="2528943">
                <a:moveTo>
                  <a:pt x="0" y="0"/>
                </a:moveTo>
                <a:lnTo>
                  <a:pt x="4526072" y="0"/>
                </a:lnTo>
                <a:lnTo>
                  <a:pt x="4526072" y="2528942"/>
                </a:lnTo>
                <a:lnTo>
                  <a:pt x="0" y="25289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10800000">
            <a:off x="14192633" y="-235771"/>
            <a:ext cx="4526072" cy="2528943"/>
          </a:xfrm>
          <a:custGeom>
            <a:avLst/>
            <a:gdLst/>
            <a:ahLst/>
            <a:cxnLst/>
            <a:rect l="l" t="t" r="r" b="b"/>
            <a:pathLst>
              <a:path w="4526072" h="2528943">
                <a:moveTo>
                  <a:pt x="0" y="0"/>
                </a:moveTo>
                <a:lnTo>
                  <a:pt x="4526072" y="0"/>
                </a:lnTo>
                <a:lnTo>
                  <a:pt x="4526072" y="2528942"/>
                </a:lnTo>
                <a:lnTo>
                  <a:pt x="0" y="25289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5729015" y="4202312"/>
            <a:ext cx="626183" cy="620693"/>
            <a:chOff x="0" y="0"/>
            <a:chExt cx="164921" cy="1634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4921" cy="163475"/>
            </a:xfrm>
            <a:custGeom>
              <a:avLst/>
              <a:gdLst/>
              <a:ahLst/>
              <a:cxnLst/>
              <a:rect l="l" t="t" r="r" b="b"/>
              <a:pathLst>
                <a:path w="164921" h="163475">
                  <a:moveTo>
                    <a:pt x="0" y="0"/>
                  </a:moveTo>
                  <a:lnTo>
                    <a:pt x="164921" y="0"/>
                  </a:lnTo>
                  <a:lnTo>
                    <a:pt x="164921" y="163475"/>
                  </a:lnTo>
                  <a:lnTo>
                    <a:pt x="0" y="163475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64921" cy="21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787048" y="5143500"/>
            <a:ext cx="418486" cy="397926"/>
            <a:chOff x="0" y="0"/>
            <a:chExt cx="110219" cy="10480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0219" cy="104803"/>
            </a:xfrm>
            <a:custGeom>
              <a:avLst/>
              <a:gdLst/>
              <a:ahLst/>
              <a:cxnLst/>
              <a:rect l="l" t="t" r="r" b="b"/>
              <a:pathLst>
                <a:path w="110219" h="104803">
                  <a:moveTo>
                    <a:pt x="0" y="0"/>
                  </a:moveTo>
                  <a:lnTo>
                    <a:pt x="110219" y="0"/>
                  </a:lnTo>
                  <a:lnTo>
                    <a:pt x="110219" y="104803"/>
                  </a:lnTo>
                  <a:lnTo>
                    <a:pt x="0" y="104803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10219" cy="152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936712" y="5668780"/>
            <a:ext cx="291131" cy="270571"/>
            <a:chOff x="0" y="0"/>
            <a:chExt cx="76677" cy="7126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6677" cy="71261"/>
            </a:xfrm>
            <a:custGeom>
              <a:avLst/>
              <a:gdLst/>
              <a:ahLst/>
              <a:cxnLst/>
              <a:rect l="l" t="t" r="r" b="b"/>
              <a:pathLst>
                <a:path w="76677" h="71261">
                  <a:moveTo>
                    <a:pt x="0" y="0"/>
                  </a:moveTo>
                  <a:lnTo>
                    <a:pt x="76677" y="0"/>
                  </a:lnTo>
                  <a:lnTo>
                    <a:pt x="76677" y="71261"/>
                  </a:lnTo>
                  <a:lnTo>
                    <a:pt x="0" y="71261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76677" cy="118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036650" y="6169297"/>
            <a:ext cx="418486" cy="397926"/>
            <a:chOff x="0" y="0"/>
            <a:chExt cx="110219" cy="10480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0219" cy="104803"/>
            </a:xfrm>
            <a:custGeom>
              <a:avLst/>
              <a:gdLst/>
              <a:ahLst/>
              <a:cxnLst/>
              <a:rect l="l" t="t" r="r" b="b"/>
              <a:pathLst>
                <a:path w="110219" h="104803">
                  <a:moveTo>
                    <a:pt x="0" y="0"/>
                  </a:moveTo>
                  <a:lnTo>
                    <a:pt x="110219" y="0"/>
                  </a:lnTo>
                  <a:lnTo>
                    <a:pt x="110219" y="104803"/>
                  </a:lnTo>
                  <a:lnTo>
                    <a:pt x="0" y="104803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10219" cy="152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652804" y="6886583"/>
            <a:ext cx="291131" cy="270571"/>
            <a:chOff x="0" y="0"/>
            <a:chExt cx="76677" cy="7126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6677" cy="71261"/>
            </a:xfrm>
            <a:custGeom>
              <a:avLst/>
              <a:gdLst/>
              <a:ahLst/>
              <a:cxnLst/>
              <a:rect l="l" t="t" r="r" b="b"/>
              <a:pathLst>
                <a:path w="76677" h="71261">
                  <a:moveTo>
                    <a:pt x="0" y="0"/>
                  </a:moveTo>
                  <a:lnTo>
                    <a:pt x="76677" y="0"/>
                  </a:lnTo>
                  <a:lnTo>
                    <a:pt x="76677" y="71261"/>
                  </a:lnTo>
                  <a:lnTo>
                    <a:pt x="0" y="71261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76677" cy="118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036650" y="7350113"/>
            <a:ext cx="291131" cy="270571"/>
            <a:chOff x="0" y="0"/>
            <a:chExt cx="76677" cy="7126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6677" cy="71261"/>
            </a:xfrm>
            <a:custGeom>
              <a:avLst/>
              <a:gdLst/>
              <a:ahLst/>
              <a:cxnLst/>
              <a:rect l="l" t="t" r="r" b="b"/>
              <a:pathLst>
                <a:path w="76677" h="71261">
                  <a:moveTo>
                    <a:pt x="0" y="0"/>
                  </a:moveTo>
                  <a:lnTo>
                    <a:pt x="76677" y="0"/>
                  </a:lnTo>
                  <a:lnTo>
                    <a:pt x="76677" y="71261"/>
                  </a:lnTo>
                  <a:lnTo>
                    <a:pt x="0" y="71261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76677" cy="118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622324" y="7676348"/>
            <a:ext cx="4734674" cy="1944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5"/>
              </a:lnSpc>
            </a:pPr>
            <a:r>
              <a:rPr lang="en-US" sz="3704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Team Members:</a:t>
            </a:r>
          </a:p>
          <a:p>
            <a:pPr algn="ctr">
              <a:lnSpc>
                <a:spcPts val="5185"/>
              </a:lnSpc>
            </a:pPr>
            <a:r>
              <a:rPr lang="en-US" sz="3704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Retaj Ali 95</a:t>
            </a:r>
          </a:p>
          <a:p>
            <a:pPr algn="ctr">
              <a:lnSpc>
                <a:spcPts val="5185"/>
              </a:lnSpc>
              <a:spcBef>
                <a:spcPct val="0"/>
              </a:spcBef>
            </a:pPr>
            <a:r>
              <a:rPr lang="en-US" sz="3704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Doha Mahmoud 108</a:t>
            </a:r>
            <a:endParaRPr lang="en-US" sz="3704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724166" y="2113107"/>
            <a:ext cx="14839668" cy="6095668"/>
            <a:chOff x="0" y="0"/>
            <a:chExt cx="3908390" cy="16054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08390" cy="1605443"/>
            </a:xfrm>
            <a:custGeom>
              <a:avLst/>
              <a:gdLst/>
              <a:ahLst/>
              <a:cxnLst/>
              <a:rect l="l" t="t" r="r" b="b"/>
              <a:pathLst>
                <a:path w="3908390" h="1605443">
                  <a:moveTo>
                    <a:pt x="0" y="0"/>
                  </a:moveTo>
                  <a:lnTo>
                    <a:pt x="3908390" y="0"/>
                  </a:lnTo>
                  <a:lnTo>
                    <a:pt x="3908390" y="1605443"/>
                  </a:lnTo>
                  <a:lnTo>
                    <a:pt x="0" y="1605443"/>
                  </a:lnTo>
                  <a:close/>
                </a:path>
              </a:pathLst>
            </a:custGeom>
            <a:solidFill>
              <a:srgbClr val="FFFFFF">
                <a:alpha val="1098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908390" cy="1653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979588" y="7516926"/>
            <a:ext cx="6304504" cy="3522642"/>
          </a:xfrm>
          <a:custGeom>
            <a:avLst/>
            <a:gdLst/>
            <a:ahLst/>
            <a:cxnLst/>
            <a:rect l="l" t="t" r="r" b="b"/>
            <a:pathLst>
              <a:path w="6304504" h="3522642">
                <a:moveTo>
                  <a:pt x="0" y="0"/>
                </a:moveTo>
                <a:lnTo>
                  <a:pt x="6304504" y="0"/>
                </a:lnTo>
                <a:lnTo>
                  <a:pt x="6304504" y="3522641"/>
                </a:lnTo>
                <a:lnTo>
                  <a:pt x="0" y="3522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5192266" y="1344691"/>
            <a:ext cx="747321" cy="768415"/>
            <a:chOff x="0" y="0"/>
            <a:chExt cx="196825" cy="20238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6825" cy="202381"/>
            </a:xfrm>
            <a:custGeom>
              <a:avLst/>
              <a:gdLst/>
              <a:ahLst/>
              <a:cxnLst/>
              <a:rect l="l" t="t" r="r" b="b"/>
              <a:pathLst>
                <a:path w="196825" h="202381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46019" y="2415977"/>
            <a:ext cx="15395963" cy="1092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71"/>
              </a:lnSpc>
            </a:pPr>
            <a:r>
              <a:rPr lang="en-US" sz="6479">
                <a:solidFill>
                  <a:srgbClr val="FFFFFF"/>
                </a:solidFill>
                <a:latin typeface="Architype Van Der Leck"/>
                <a:ea typeface="Architype Van Der Leck"/>
                <a:cs typeface="Architype Van Der Leck"/>
                <a:sym typeface="Architype Van Der Leck"/>
              </a:rPr>
              <a:t>problem statement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58909" y="3868710"/>
            <a:ext cx="13891833" cy="379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23"/>
              </a:lnSpc>
            </a:pPr>
            <a:r>
              <a:rPr lang="en-US" sz="273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Home appliance manuals are often long and difficult to search, making it hard for users to quickly find troubleshooting, maintenance, and safety information.</a:t>
            </a:r>
          </a:p>
          <a:p>
            <a:pPr algn="just">
              <a:lnSpc>
                <a:spcPts val="3823"/>
              </a:lnSpc>
            </a:pPr>
            <a:r>
              <a:rPr lang="en-US" sz="273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Then add 3 short points:</a:t>
            </a:r>
          </a:p>
          <a:p>
            <a:pPr marL="589583" lvl="1" indent="-294792" algn="just">
              <a:lnSpc>
                <a:spcPts val="3823"/>
              </a:lnSpc>
              <a:buFont typeface="Arial"/>
              <a:buChar char="•"/>
            </a:pPr>
            <a:r>
              <a:rPr lang="en-US" sz="273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Difficult to search appliance manuals.</a:t>
            </a:r>
          </a:p>
          <a:p>
            <a:pPr marL="589583" lvl="1" indent="-294792" algn="just">
              <a:lnSpc>
                <a:spcPts val="3823"/>
              </a:lnSpc>
              <a:buFont typeface="Arial"/>
              <a:buChar char="•"/>
            </a:pPr>
            <a:r>
              <a:rPr lang="en-US" sz="273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Maintenance tasks can be forgotten.</a:t>
            </a:r>
          </a:p>
          <a:p>
            <a:pPr marL="589583" lvl="1" indent="-294792" algn="just">
              <a:lnSpc>
                <a:spcPts val="3823"/>
              </a:lnSpc>
              <a:buFont typeface="Arial"/>
              <a:buChar char="•"/>
            </a:pPr>
            <a:r>
              <a:rPr lang="en-US" sz="273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Repair information is not always organized.</a:t>
            </a:r>
          </a:p>
          <a:p>
            <a:pPr algn="just">
              <a:lnSpc>
                <a:spcPts val="3823"/>
              </a:lnSpc>
            </a:pPr>
            <a:r>
              <a:rPr lang="en-US" sz="273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Smart appliance care using RAG • LangChain • Hugging Face • FAISS • Streamlit</a:t>
            </a:r>
          </a:p>
          <a:p>
            <a:pPr algn="just">
              <a:lnSpc>
                <a:spcPts val="3823"/>
              </a:lnSpc>
            </a:pPr>
            <a:r>
              <a:rPr lang="en-US" sz="273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6250742" y="2393082"/>
            <a:ext cx="626183" cy="566519"/>
            <a:chOff x="0" y="0"/>
            <a:chExt cx="164921" cy="14920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4921" cy="149207"/>
            </a:xfrm>
            <a:custGeom>
              <a:avLst/>
              <a:gdLst/>
              <a:ahLst/>
              <a:cxnLst/>
              <a:rect l="l" t="t" r="r" b="b"/>
              <a:pathLst>
                <a:path w="164921" h="149207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721829" y="1579328"/>
            <a:ext cx="310192" cy="299142"/>
            <a:chOff x="0" y="0"/>
            <a:chExt cx="81697" cy="7878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69070" y="6854327"/>
            <a:ext cx="310192" cy="299142"/>
            <a:chOff x="0" y="0"/>
            <a:chExt cx="81697" cy="7878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333412" y="7516926"/>
            <a:ext cx="310192" cy="299142"/>
            <a:chOff x="0" y="0"/>
            <a:chExt cx="81697" cy="7878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824528" y="1916294"/>
            <a:ext cx="14997945" cy="6692568"/>
            <a:chOff x="0" y="0"/>
            <a:chExt cx="3950076" cy="17626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50076" cy="1762652"/>
            </a:xfrm>
            <a:custGeom>
              <a:avLst/>
              <a:gdLst/>
              <a:ahLst/>
              <a:cxnLst/>
              <a:rect l="l" t="t" r="r" b="b"/>
              <a:pathLst>
                <a:path w="3950076" h="1762652">
                  <a:moveTo>
                    <a:pt x="0" y="0"/>
                  </a:moveTo>
                  <a:lnTo>
                    <a:pt x="3950076" y="0"/>
                  </a:lnTo>
                  <a:lnTo>
                    <a:pt x="3950076" y="1762652"/>
                  </a:lnTo>
                  <a:lnTo>
                    <a:pt x="0" y="1762652"/>
                  </a:lnTo>
                  <a:close/>
                </a:path>
              </a:pathLst>
            </a:custGeom>
            <a:solidFill>
              <a:srgbClr val="FFFFFF">
                <a:alpha val="1098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950076" cy="1810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289862" y="2305577"/>
            <a:ext cx="10461491" cy="870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39"/>
              </a:lnSpc>
              <a:spcBef>
                <a:spcPct val="0"/>
              </a:spcBef>
            </a:pPr>
            <a:r>
              <a:rPr lang="en-US" sz="5099">
                <a:solidFill>
                  <a:srgbClr val="FFFFFF"/>
                </a:solidFill>
                <a:latin typeface="Architype Van Der Leck"/>
                <a:ea typeface="Architype Van Der Leck"/>
                <a:cs typeface="Architype Van Der Leck"/>
                <a:sym typeface="Architype Van Der Leck"/>
              </a:rPr>
              <a:t>Project Objectives</a:t>
            </a:r>
          </a:p>
        </p:txBody>
      </p:sp>
      <p:sp>
        <p:nvSpPr>
          <p:cNvPr id="7" name="Freeform 7"/>
          <p:cNvSpPr/>
          <p:nvPr/>
        </p:nvSpPr>
        <p:spPr>
          <a:xfrm>
            <a:off x="10314226" y="3176179"/>
            <a:ext cx="5973130" cy="4911097"/>
          </a:xfrm>
          <a:custGeom>
            <a:avLst/>
            <a:gdLst/>
            <a:ahLst/>
            <a:cxnLst/>
            <a:rect l="l" t="t" r="r" b="b"/>
            <a:pathLst>
              <a:path w="5973130" h="4911097">
                <a:moveTo>
                  <a:pt x="0" y="0"/>
                </a:moveTo>
                <a:lnTo>
                  <a:pt x="5973130" y="0"/>
                </a:lnTo>
                <a:lnTo>
                  <a:pt x="5973130" y="4911097"/>
                </a:lnTo>
                <a:lnTo>
                  <a:pt x="0" y="49110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10800000">
            <a:off x="11983496" y="-868048"/>
            <a:ext cx="6304504" cy="3522642"/>
          </a:xfrm>
          <a:custGeom>
            <a:avLst/>
            <a:gdLst/>
            <a:ahLst/>
            <a:cxnLst/>
            <a:rect l="l" t="t" r="r" b="b"/>
            <a:pathLst>
              <a:path w="6304504" h="3522642">
                <a:moveTo>
                  <a:pt x="0" y="0"/>
                </a:moveTo>
                <a:lnTo>
                  <a:pt x="6304504" y="0"/>
                </a:lnTo>
                <a:lnTo>
                  <a:pt x="6304504" y="3522641"/>
                </a:lnTo>
                <a:lnTo>
                  <a:pt x="0" y="3522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9052685" y="7188490"/>
            <a:ext cx="310192" cy="299142"/>
            <a:chOff x="0" y="0"/>
            <a:chExt cx="81697" cy="7878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817027" y="7851090"/>
            <a:ext cx="310192" cy="299142"/>
            <a:chOff x="0" y="0"/>
            <a:chExt cx="81697" cy="7878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50506" y="2256306"/>
            <a:ext cx="747321" cy="768415"/>
            <a:chOff x="0" y="0"/>
            <a:chExt cx="196825" cy="20238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6825" cy="202381"/>
            </a:xfrm>
            <a:custGeom>
              <a:avLst/>
              <a:gdLst/>
              <a:ahLst/>
              <a:cxnLst/>
              <a:rect l="l" t="t" r="r" b="b"/>
              <a:pathLst>
                <a:path w="196825" h="202381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15608" y="3528171"/>
            <a:ext cx="626183" cy="566519"/>
            <a:chOff x="0" y="0"/>
            <a:chExt cx="164921" cy="14920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4921" cy="149207"/>
            </a:xfrm>
            <a:custGeom>
              <a:avLst/>
              <a:gdLst/>
              <a:ahLst/>
              <a:cxnLst/>
              <a:rect l="l" t="t" r="r" b="b"/>
              <a:pathLst>
                <a:path w="164921" h="149207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69038" y="1916294"/>
            <a:ext cx="310192" cy="299142"/>
            <a:chOff x="0" y="0"/>
            <a:chExt cx="81697" cy="7878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595025" y="3471021"/>
            <a:ext cx="7719201" cy="4418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97"/>
              </a:lnSpc>
            </a:pPr>
            <a:r>
              <a:rPr lang="en-US" sz="2784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The main objective of HomeGuardian AI is to make appliance management easier using artificial intelligence.</a:t>
            </a:r>
          </a:p>
          <a:p>
            <a:pPr algn="just">
              <a:lnSpc>
                <a:spcPts val="3897"/>
              </a:lnSpc>
            </a:pPr>
            <a:r>
              <a:rPr lang="en-US" sz="2784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Add 4 objectives:</a:t>
            </a:r>
          </a:p>
          <a:p>
            <a:pPr marL="601085" lvl="1" indent="-300542" algn="just">
              <a:lnSpc>
                <a:spcPts val="3897"/>
              </a:lnSpc>
              <a:buFont typeface="Arial"/>
              <a:buChar char="•"/>
            </a:pPr>
            <a:r>
              <a:rPr lang="en-US" sz="2784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Simplify appliance setup.</a:t>
            </a:r>
          </a:p>
          <a:p>
            <a:pPr marL="601085" lvl="1" indent="-300542" algn="just">
              <a:lnSpc>
                <a:spcPts val="3897"/>
              </a:lnSpc>
              <a:buFont typeface="Arial"/>
              <a:buChar char="•"/>
            </a:pPr>
            <a:r>
              <a:rPr lang="en-US" sz="2784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Provide manual-based AI assistance.</a:t>
            </a:r>
          </a:p>
          <a:p>
            <a:pPr marL="601085" lvl="1" indent="-300542" algn="just">
              <a:lnSpc>
                <a:spcPts val="3897"/>
              </a:lnSpc>
              <a:buFont typeface="Arial"/>
              <a:buChar char="•"/>
            </a:pPr>
            <a:r>
              <a:rPr lang="en-US" sz="2784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Manage maintenance reminders.</a:t>
            </a:r>
          </a:p>
          <a:p>
            <a:pPr marL="601085" lvl="1" indent="-300542" algn="just">
              <a:lnSpc>
                <a:spcPts val="3897"/>
              </a:lnSpc>
              <a:buFont typeface="Arial"/>
              <a:buChar char="•"/>
            </a:pPr>
            <a:r>
              <a:rPr lang="en-US" sz="2784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Organize appliance repair history.</a:t>
            </a:r>
          </a:p>
          <a:p>
            <a:pPr algn="just">
              <a:lnSpc>
                <a:spcPts val="3897"/>
              </a:lnSpc>
            </a:pPr>
            <a:endParaRPr lang="en-US" sz="2784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61400" y="1694577"/>
            <a:ext cx="16735167" cy="6897845"/>
            <a:chOff x="0" y="0"/>
            <a:chExt cx="4407616" cy="18167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07616" cy="1816716"/>
            </a:xfrm>
            <a:custGeom>
              <a:avLst/>
              <a:gdLst/>
              <a:ahLst/>
              <a:cxnLst/>
              <a:rect l="l" t="t" r="r" b="b"/>
              <a:pathLst>
                <a:path w="4407616" h="1816716">
                  <a:moveTo>
                    <a:pt x="0" y="0"/>
                  </a:moveTo>
                  <a:lnTo>
                    <a:pt x="4407616" y="0"/>
                  </a:lnTo>
                  <a:lnTo>
                    <a:pt x="4407616" y="1816716"/>
                  </a:lnTo>
                  <a:lnTo>
                    <a:pt x="0" y="1816716"/>
                  </a:lnTo>
                  <a:close/>
                </a:path>
              </a:pathLst>
            </a:custGeom>
            <a:solidFill>
              <a:srgbClr val="FFFFFF">
                <a:alpha val="1098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407616" cy="1864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634697" y="1771991"/>
            <a:ext cx="11897781" cy="865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39"/>
              </a:lnSpc>
              <a:spcBef>
                <a:spcPct val="0"/>
              </a:spcBef>
            </a:pPr>
            <a:r>
              <a:rPr lang="en-US" sz="5099">
                <a:solidFill>
                  <a:srgbClr val="FFFFFF"/>
                </a:solidFill>
                <a:latin typeface="Architype Van Der Leck"/>
                <a:ea typeface="Architype Van Der Leck"/>
                <a:cs typeface="Architype Van Der Leck"/>
                <a:sym typeface="Architype Van Der Leck"/>
              </a:rPr>
              <a:t>problem 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39944" y="2976018"/>
            <a:ext cx="9509654" cy="519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HomeGuardian AI combines appliance manuals, AI assistance, maintenance reminders, and repair tracking in one application.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The main features:</a:t>
            </a:r>
          </a:p>
          <a:p>
            <a:pPr algn="just">
              <a:lnSpc>
                <a:spcPts val="2940"/>
              </a:lnSpc>
            </a:pPr>
            <a:r>
              <a:rPr lang="en-US" sz="2100" b="1">
                <a:solidFill>
                  <a:srgbClr val="004AAD"/>
                </a:solidFill>
                <a:latin typeface="Tomorrow Bold"/>
                <a:ea typeface="Tomorrow Bold"/>
                <a:cs typeface="Tomorrow Bold"/>
                <a:sym typeface="Tomorrow Bold"/>
              </a:rPr>
              <a:t>Dashboard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Overview of appliances and care status.</a:t>
            </a:r>
          </a:p>
          <a:p>
            <a:pPr algn="just">
              <a:lnSpc>
                <a:spcPts val="2940"/>
              </a:lnSpc>
            </a:pPr>
            <a:r>
              <a:rPr lang="en-US" sz="2100" b="1">
                <a:solidFill>
                  <a:srgbClr val="004AAD"/>
                </a:solidFill>
                <a:latin typeface="Tomorrow Bold"/>
                <a:ea typeface="Tomorrow Bold"/>
                <a:cs typeface="Tomorrow Bold"/>
                <a:sym typeface="Tomorrow Bold"/>
              </a:rPr>
              <a:t>Add Appliance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Upload a manual and automatically detect appliance information.</a:t>
            </a:r>
          </a:p>
          <a:p>
            <a:pPr algn="just">
              <a:lnSpc>
                <a:spcPts val="2940"/>
              </a:lnSpc>
            </a:pPr>
            <a:r>
              <a:rPr lang="en-US" sz="2100" b="1">
                <a:solidFill>
                  <a:srgbClr val="004AAD"/>
                </a:solidFill>
                <a:latin typeface="Tomorrow Bold"/>
                <a:ea typeface="Tomorrow Bold"/>
                <a:cs typeface="Tomorrow Bold"/>
                <a:sym typeface="Tomorrow Bold"/>
              </a:rPr>
              <a:t>AI Assistant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Ask questions based on the appliance manual.</a:t>
            </a:r>
          </a:p>
          <a:p>
            <a:pPr algn="just">
              <a:lnSpc>
                <a:spcPts val="2940"/>
              </a:lnSpc>
            </a:pPr>
            <a:r>
              <a:rPr lang="en-US" sz="2100" b="1">
                <a:solidFill>
                  <a:srgbClr val="004AAD"/>
                </a:solidFill>
                <a:latin typeface="Tomorrow Bold"/>
                <a:ea typeface="Tomorrow Bold"/>
                <a:cs typeface="Tomorrow Bold"/>
                <a:sym typeface="Tomorrow Bold"/>
              </a:rPr>
              <a:t>Maintenance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Create and track care reminders.</a:t>
            </a:r>
          </a:p>
          <a:p>
            <a:pPr algn="just">
              <a:lnSpc>
                <a:spcPts val="2940"/>
              </a:lnSpc>
            </a:pPr>
            <a:r>
              <a:rPr lang="en-US" sz="2100" b="1">
                <a:solidFill>
                  <a:srgbClr val="004AAD"/>
                </a:solidFill>
                <a:latin typeface="Tomorrow Bold"/>
                <a:ea typeface="Tomorrow Bold"/>
                <a:cs typeface="Tomorrow Bold"/>
                <a:sym typeface="Tomorrow Bold"/>
              </a:rPr>
              <a:t>Repair History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Store previous repairs and costs.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-899330" y="7082729"/>
            <a:ext cx="6304504" cy="3522642"/>
          </a:xfrm>
          <a:custGeom>
            <a:avLst/>
            <a:gdLst/>
            <a:ahLst/>
            <a:cxnLst/>
            <a:rect l="l" t="t" r="r" b="b"/>
            <a:pathLst>
              <a:path w="6304504" h="3522642">
                <a:moveTo>
                  <a:pt x="0" y="0"/>
                </a:moveTo>
                <a:lnTo>
                  <a:pt x="6304504" y="0"/>
                </a:lnTo>
                <a:lnTo>
                  <a:pt x="6304504" y="3522642"/>
                </a:lnTo>
                <a:lnTo>
                  <a:pt x="0" y="3522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444080">
            <a:off x="2069777" y="3351882"/>
            <a:ext cx="3529482" cy="3186163"/>
          </a:xfrm>
          <a:custGeom>
            <a:avLst/>
            <a:gdLst/>
            <a:ahLst/>
            <a:cxnLst/>
            <a:rect l="l" t="t" r="r" b="b"/>
            <a:pathLst>
              <a:path w="3529482" h="3186163">
                <a:moveTo>
                  <a:pt x="0" y="0"/>
                </a:moveTo>
                <a:lnTo>
                  <a:pt x="3529482" y="0"/>
                </a:lnTo>
                <a:lnTo>
                  <a:pt x="3529482" y="3186163"/>
                </a:lnTo>
                <a:lnTo>
                  <a:pt x="0" y="31861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505602" y="1365345"/>
            <a:ext cx="747321" cy="768415"/>
            <a:chOff x="0" y="0"/>
            <a:chExt cx="196825" cy="2023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6825" cy="202381"/>
            </a:xfrm>
            <a:custGeom>
              <a:avLst/>
              <a:gdLst/>
              <a:ahLst/>
              <a:cxnLst/>
              <a:rect l="l" t="t" r="r" b="b"/>
              <a:pathLst>
                <a:path w="196825" h="202381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70704" y="2637209"/>
            <a:ext cx="626183" cy="566519"/>
            <a:chOff x="0" y="0"/>
            <a:chExt cx="164921" cy="14920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4921" cy="149207"/>
            </a:xfrm>
            <a:custGeom>
              <a:avLst/>
              <a:gdLst/>
              <a:ahLst/>
              <a:cxnLst/>
              <a:rect l="l" t="t" r="r" b="b"/>
              <a:pathLst>
                <a:path w="164921" h="149207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24133" y="1025332"/>
            <a:ext cx="310192" cy="299142"/>
            <a:chOff x="0" y="0"/>
            <a:chExt cx="81697" cy="7878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722033" y="2325653"/>
            <a:ext cx="310192" cy="299142"/>
            <a:chOff x="0" y="0"/>
            <a:chExt cx="81697" cy="7878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486375" y="2988253"/>
            <a:ext cx="310192" cy="299142"/>
            <a:chOff x="0" y="0"/>
            <a:chExt cx="81697" cy="7878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83796" y="1024972"/>
            <a:ext cx="12566730" cy="8233328"/>
            <a:chOff x="0" y="0"/>
            <a:chExt cx="3309756" cy="21684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09756" cy="2168449"/>
            </a:xfrm>
            <a:custGeom>
              <a:avLst/>
              <a:gdLst/>
              <a:ahLst/>
              <a:cxnLst/>
              <a:rect l="l" t="t" r="r" b="b"/>
              <a:pathLst>
                <a:path w="3309756" h="2168449">
                  <a:moveTo>
                    <a:pt x="0" y="0"/>
                  </a:moveTo>
                  <a:lnTo>
                    <a:pt x="3309756" y="0"/>
                  </a:lnTo>
                  <a:lnTo>
                    <a:pt x="3309756" y="2168449"/>
                  </a:lnTo>
                  <a:lnTo>
                    <a:pt x="0" y="2168449"/>
                  </a:lnTo>
                  <a:close/>
                </a:path>
              </a:pathLst>
            </a:custGeom>
            <a:solidFill>
              <a:srgbClr val="FFFFFF">
                <a:alpha val="1098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309756" cy="22160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18025" y="1282717"/>
            <a:ext cx="9813147" cy="870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39"/>
              </a:lnSpc>
              <a:spcBef>
                <a:spcPct val="0"/>
              </a:spcBef>
            </a:pPr>
            <a:r>
              <a:rPr lang="en-US" sz="5099">
                <a:solidFill>
                  <a:srgbClr val="FFFFFF"/>
                </a:solidFill>
                <a:latin typeface="Architype Van Der Leck"/>
                <a:ea typeface="Architype Van Der Leck"/>
                <a:cs typeface="Architype Van Der Leck"/>
                <a:sym typeface="Architype Van Der Leck"/>
              </a:rPr>
              <a:t>Sys</a:t>
            </a:r>
            <a:r>
              <a:rPr lang="en-US" sz="5099" u="none" strike="noStrike">
                <a:solidFill>
                  <a:srgbClr val="FFFFFF"/>
                </a:solidFill>
                <a:latin typeface="Architype Van Der Leck"/>
                <a:ea typeface="Architype Van Der Leck"/>
                <a:cs typeface="Architype Van Der Leck"/>
                <a:sym typeface="Architype Van Der Leck"/>
              </a:rPr>
              <a:t>tem 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35111" y="2324768"/>
            <a:ext cx="11064099" cy="6469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0"/>
              </a:lnSpc>
            </a:pPr>
            <a:r>
              <a:rPr lang="en-US" sz="215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Upload PDF Manual</a:t>
            </a:r>
          </a:p>
          <a:p>
            <a:pPr algn="ctr">
              <a:lnSpc>
                <a:spcPts val="3020"/>
              </a:lnSpc>
            </a:pPr>
            <a:r>
              <a:rPr lang="en-US" sz="215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      ↓</a:t>
            </a:r>
          </a:p>
          <a:p>
            <a:pPr algn="ctr">
              <a:lnSpc>
                <a:spcPts val="3020"/>
              </a:lnSpc>
            </a:pPr>
            <a:r>
              <a:rPr lang="en-US" sz="215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Extract Manual Text</a:t>
            </a:r>
          </a:p>
          <a:p>
            <a:pPr algn="ctr">
              <a:lnSpc>
                <a:spcPts val="3020"/>
              </a:lnSpc>
            </a:pPr>
            <a:r>
              <a:rPr lang="en-US" sz="215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      ↓</a:t>
            </a:r>
          </a:p>
          <a:p>
            <a:pPr algn="ctr">
              <a:lnSpc>
                <a:spcPts val="3020"/>
              </a:lnSpc>
            </a:pPr>
            <a:r>
              <a:rPr lang="en-US" sz="215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Detect Appliance Information</a:t>
            </a:r>
          </a:p>
          <a:p>
            <a:pPr algn="ctr">
              <a:lnSpc>
                <a:spcPts val="3020"/>
              </a:lnSpc>
            </a:pPr>
            <a:r>
              <a:rPr lang="en-US" sz="215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      ↓</a:t>
            </a:r>
          </a:p>
          <a:p>
            <a:pPr algn="ctr">
              <a:lnSpc>
                <a:spcPts val="3020"/>
              </a:lnSpc>
            </a:pPr>
            <a:r>
              <a:rPr lang="en-US" sz="215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Split Manual into Chunks</a:t>
            </a:r>
          </a:p>
          <a:p>
            <a:pPr algn="ctr">
              <a:lnSpc>
                <a:spcPts val="3020"/>
              </a:lnSpc>
            </a:pPr>
            <a:r>
              <a:rPr lang="en-US" sz="215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      ↓</a:t>
            </a:r>
          </a:p>
          <a:p>
            <a:pPr algn="ctr">
              <a:lnSpc>
                <a:spcPts val="3020"/>
              </a:lnSpc>
            </a:pPr>
            <a:r>
              <a:rPr lang="en-US" sz="215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Generate Embeddings</a:t>
            </a:r>
          </a:p>
          <a:p>
            <a:pPr algn="ctr">
              <a:lnSpc>
                <a:spcPts val="3020"/>
              </a:lnSpc>
            </a:pPr>
            <a:r>
              <a:rPr lang="en-US" sz="215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      ↓</a:t>
            </a:r>
          </a:p>
          <a:p>
            <a:pPr algn="ctr">
              <a:lnSpc>
                <a:spcPts val="3020"/>
              </a:lnSpc>
            </a:pPr>
            <a:r>
              <a:rPr lang="en-US" sz="215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Store in FAISS</a:t>
            </a:r>
          </a:p>
          <a:p>
            <a:pPr algn="ctr">
              <a:lnSpc>
                <a:spcPts val="3020"/>
              </a:lnSpc>
            </a:pPr>
            <a:r>
              <a:rPr lang="en-US" sz="215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      ↓</a:t>
            </a:r>
          </a:p>
          <a:p>
            <a:pPr algn="ctr">
              <a:lnSpc>
                <a:spcPts val="3020"/>
              </a:lnSpc>
            </a:pPr>
            <a:r>
              <a:rPr lang="en-US" sz="215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     Ask AI</a:t>
            </a:r>
          </a:p>
          <a:p>
            <a:pPr algn="ctr">
              <a:lnSpc>
                <a:spcPts val="3020"/>
              </a:lnSpc>
            </a:pPr>
            <a:r>
              <a:rPr lang="en-US" sz="215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      ↓</a:t>
            </a:r>
          </a:p>
          <a:p>
            <a:pPr algn="ctr">
              <a:lnSpc>
                <a:spcPts val="3020"/>
              </a:lnSpc>
            </a:pPr>
            <a:r>
              <a:rPr lang="en-US" sz="215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Retrieve Relevant Information</a:t>
            </a:r>
          </a:p>
          <a:p>
            <a:pPr algn="ctr">
              <a:lnSpc>
                <a:spcPts val="3020"/>
              </a:lnSpc>
            </a:pPr>
            <a:r>
              <a:rPr lang="en-US" sz="215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      ↓</a:t>
            </a:r>
          </a:p>
          <a:p>
            <a:pPr algn="ctr">
              <a:lnSpc>
                <a:spcPts val="3020"/>
              </a:lnSpc>
            </a:pPr>
            <a:r>
              <a:rPr lang="en-US" sz="2157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Generate Final Answer</a:t>
            </a:r>
          </a:p>
        </p:txBody>
      </p:sp>
      <p:sp>
        <p:nvSpPr>
          <p:cNvPr id="8" name="Freeform 8"/>
          <p:cNvSpPr/>
          <p:nvPr/>
        </p:nvSpPr>
        <p:spPr>
          <a:xfrm>
            <a:off x="12580409" y="4053761"/>
            <a:ext cx="4928490" cy="5204539"/>
          </a:xfrm>
          <a:custGeom>
            <a:avLst/>
            <a:gdLst/>
            <a:ahLst/>
            <a:cxnLst/>
            <a:rect l="l" t="t" r="r" b="b"/>
            <a:pathLst>
              <a:path w="4928490" h="5204539">
                <a:moveTo>
                  <a:pt x="0" y="0"/>
                </a:moveTo>
                <a:lnTo>
                  <a:pt x="4928490" y="0"/>
                </a:lnTo>
                <a:lnTo>
                  <a:pt x="4928490" y="5204539"/>
                </a:lnTo>
                <a:lnTo>
                  <a:pt x="0" y="52045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10800000">
            <a:off x="12233981" y="-732621"/>
            <a:ext cx="6304504" cy="3522642"/>
          </a:xfrm>
          <a:custGeom>
            <a:avLst/>
            <a:gdLst/>
            <a:ahLst/>
            <a:cxnLst/>
            <a:rect l="l" t="t" r="r" b="b"/>
            <a:pathLst>
              <a:path w="6304504" h="3522642">
                <a:moveTo>
                  <a:pt x="0" y="0"/>
                </a:moveTo>
                <a:lnTo>
                  <a:pt x="6304504" y="0"/>
                </a:lnTo>
                <a:lnTo>
                  <a:pt x="6304504" y="3522642"/>
                </a:lnTo>
                <a:lnTo>
                  <a:pt x="0" y="35226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870704" y="7189743"/>
            <a:ext cx="747321" cy="768415"/>
            <a:chOff x="0" y="0"/>
            <a:chExt cx="196825" cy="2023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6825" cy="202381"/>
            </a:xfrm>
            <a:custGeom>
              <a:avLst/>
              <a:gdLst/>
              <a:ahLst/>
              <a:cxnLst/>
              <a:rect l="l" t="t" r="r" b="b"/>
              <a:pathLst>
                <a:path w="196825" h="202381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6739" y="9010736"/>
            <a:ext cx="626183" cy="566519"/>
            <a:chOff x="0" y="0"/>
            <a:chExt cx="164921" cy="14920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4921" cy="149207"/>
            </a:xfrm>
            <a:custGeom>
              <a:avLst/>
              <a:gdLst/>
              <a:ahLst/>
              <a:cxnLst/>
              <a:rect l="l" t="t" r="r" b="b"/>
              <a:pathLst>
                <a:path w="164921" h="149207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24133" y="8600077"/>
            <a:ext cx="310192" cy="299142"/>
            <a:chOff x="0" y="0"/>
            <a:chExt cx="81697" cy="7878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579665" y="2006683"/>
            <a:ext cx="310192" cy="299142"/>
            <a:chOff x="0" y="0"/>
            <a:chExt cx="81697" cy="7878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344007" y="2669282"/>
            <a:ext cx="310192" cy="299142"/>
            <a:chOff x="0" y="0"/>
            <a:chExt cx="81697" cy="7878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294347" y="1490163"/>
            <a:ext cx="13699307" cy="7306675"/>
            <a:chOff x="0" y="0"/>
            <a:chExt cx="3608048" cy="19243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08048" cy="1924392"/>
            </a:xfrm>
            <a:custGeom>
              <a:avLst/>
              <a:gdLst/>
              <a:ahLst/>
              <a:cxnLst/>
              <a:rect l="l" t="t" r="r" b="b"/>
              <a:pathLst>
                <a:path w="3608048" h="1924392">
                  <a:moveTo>
                    <a:pt x="0" y="0"/>
                  </a:moveTo>
                  <a:lnTo>
                    <a:pt x="3608048" y="0"/>
                  </a:lnTo>
                  <a:lnTo>
                    <a:pt x="3608048" y="1924392"/>
                  </a:lnTo>
                  <a:lnTo>
                    <a:pt x="0" y="1924392"/>
                  </a:lnTo>
                  <a:close/>
                </a:path>
              </a:pathLst>
            </a:custGeom>
            <a:solidFill>
              <a:srgbClr val="FFFFFF">
                <a:alpha val="1098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608048" cy="19720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43205" y="5143500"/>
            <a:ext cx="3313774" cy="3701917"/>
          </a:xfrm>
          <a:custGeom>
            <a:avLst/>
            <a:gdLst/>
            <a:ahLst/>
            <a:cxnLst/>
            <a:rect l="l" t="t" r="r" b="b"/>
            <a:pathLst>
              <a:path w="3313774" h="3701917">
                <a:moveTo>
                  <a:pt x="0" y="0"/>
                </a:moveTo>
                <a:lnTo>
                  <a:pt x="3313774" y="0"/>
                </a:lnTo>
                <a:lnTo>
                  <a:pt x="3313774" y="3701917"/>
                </a:lnTo>
                <a:lnTo>
                  <a:pt x="0" y="37019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296979" y="1931461"/>
            <a:ext cx="9694043" cy="870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39"/>
              </a:lnSpc>
              <a:spcBef>
                <a:spcPct val="0"/>
              </a:spcBef>
            </a:pPr>
            <a:r>
              <a:rPr lang="en-US" sz="5099">
                <a:solidFill>
                  <a:srgbClr val="FFFFFF"/>
                </a:solidFill>
                <a:latin typeface="Architype Van Der Leck"/>
                <a:ea typeface="Architype Van Der Leck"/>
                <a:cs typeface="Architype Van Der Leck"/>
                <a:sym typeface="Architype Van Der Leck"/>
              </a:rPr>
              <a:t>RAG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96979" y="2995778"/>
            <a:ext cx="10358115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HomeGuardian uses Retrieval-Augmented Generation to retrieve relevant information from the selected appliance manual before generating an answer.</a:t>
            </a:r>
          </a:p>
          <a:p>
            <a:pPr algn="just">
              <a:lnSpc>
                <a:spcPts val="2940"/>
              </a:lnSpc>
            </a:pPr>
            <a:endParaRPr lang="en-US" sz="210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842457" y="4109481"/>
            <a:ext cx="4124647" cy="4041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69"/>
              </a:lnSpc>
            </a:pPr>
            <a:r>
              <a:rPr lang="en-US" sz="25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User Question</a:t>
            </a:r>
          </a:p>
          <a:p>
            <a:pPr algn="just">
              <a:lnSpc>
                <a:spcPts val="3569"/>
              </a:lnSpc>
            </a:pPr>
            <a:r>
              <a:rPr lang="en-US" sz="25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     ↓</a:t>
            </a:r>
          </a:p>
          <a:p>
            <a:pPr algn="just">
              <a:lnSpc>
                <a:spcPts val="3569"/>
              </a:lnSpc>
            </a:pPr>
            <a:r>
              <a:rPr lang="en-US" sz="25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FAISS Search</a:t>
            </a:r>
          </a:p>
          <a:p>
            <a:pPr algn="just">
              <a:lnSpc>
                <a:spcPts val="3569"/>
              </a:lnSpc>
            </a:pPr>
            <a:r>
              <a:rPr lang="en-US" sz="25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     ↓</a:t>
            </a:r>
          </a:p>
          <a:p>
            <a:pPr algn="just">
              <a:lnSpc>
                <a:spcPts val="3569"/>
              </a:lnSpc>
            </a:pPr>
            <a:r>
              <a:rPr lang="en-US" sz="25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Relevant Manual Chunks</a:t>
            </a:r>
          </a:p>
          <a:p>
            <a:pPr algn="just">
              <a:lnSpc>
                <a:spcPts val="3569"/>
              </a:lnSpc>
            </a:pPr>
            <a:r>
              <a:rPr lang="en-US" sz="25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     ↓</a:t>
            </a:r>
          </a:p>
          <a:p>
            <a:pPr algn="just">
              <a:lnSpc>
                <a:spcPts val="3569"/>
              </a:lnSpc>
            </a:pPr>
            <a:r>
              <a:rPr lang="en-US" sz="25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Qwen</a:t>
            </a:r>
          </a:p>
          <a:p>
            <a:pPr algn="just">
              <a:lnSpc>
                <a:spcPts val="3569"/>
              </a:lnSpc>
            </a:pPr>
            <a:r>
              <a:rPr lang="en-US" sz="25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     ↓</a:t>
            </a:r>
          </a:p>
          <a:p>
            <a:pPr algn="just">
              <a:lnSpc>
                <a:spcPts val="3569"/>
              </a:lnSpc>
            </a:pPr>
            <a:r>
              <a:rPr lang="en-US" sz="254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Final Answer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619993" y="2805531"/>
            <a:ext cx="747321" cy="768415"/>
            <a:chOff x="0" y="0"/>
            <a:chExt cx="196825" cy="2023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6825" cy="202381"/>
            </a:xfrm>
            <a:custGeom>
              <a:avLst/>
              <a:gdLst/>
              <a:ahLst/>
              <a:cxnLst/>
              <a:rect l="l" t="t" r="r" b="b"/>
              <a:pathLst>
                <a:path w="196825" h="202381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633117" y="3873847"/>
            <a:ext cx="626183" cy="566519"/>
            <a:chOff x="0" y="0"/>
            <a:chExt cx="164921" cy="14920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4921" cy="149207"/>
            </a:xfrm>
            <a:custGeom>
              <a:avLst/>
              <a:gdLst/>
              <a:ahLst/>
              <a:cxnLst/>
              <a:rect l="l" t="t" r="r" b="b"/>
              <a:pathLst>
                <a:path w="164921" h="149207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386233" y="4128597"/>
            <a:ext cx="310192" cy="299142"/>
            <a:chOff x="0" y="0"/>
            <a:chExt cx="81697" cy="7878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89900" y="2264816"/>
            <a:ext cx="310192" cy="299142"/>
            <a:chOff x="0" y="0"/>
            <a:chExt cx="81697" cy="7878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139251" y="3040167"/>
            <a:ext cx="310192" cy="299142"/>
            <a:chOff x="0" y="0"/>
            <a:chExt cx="81697" cy="7878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83796" y="2890596"/>
            <a:ext cx="310192" cy="299142"/>
            <a:chOff x="0" y="0"/>
            <a:chExt cx="81697" cy="7878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 flipH="1">
            <a:off x="12233981" y="7084097"/>
            <a:ext cx="6304504" cy="3522642"/>
          </a:xfrm>
          <a:custGeom>
            <a:avLst/>
            <a:gdLst/>
            <a:ahLst/>
            <a:cxnLst/>
            <a:rect l="l" t="t" r="r" b="b"/>
            <a:pathLst>
              <a:path w="6304504" h="3522642">
                <a:moveTo>
                  <a:pt x="6304504" y="0"/>
                </a:moveTo>
                <a:lnTo>
                  <a:pt x="0" y="0"/>
                </a:lnTo>
                <a:lnTo>
                  <a:pt x="0" y="3522641"/>
                </a:lnTo>
                <a:lnTo>
                  <a:pt x="6304504" y="3522641"/>
                </a:lnTo>
                <a:lnTo>
                  <a:pt x="6304504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307883" y="1762898"/>
            <a:ext cx="9951417" cy="7306675"/>
            <a:chOff x="0" y="0"/>
            <a:chExt cx="2620949" cy="19243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20949" cy="1924392"/>
            </a:xfrm>
            <a:custGeom>
              <a:avLst/>
              <a:gdLst/>
              <a:ahLst/>
              <a:cxnLst/>
              <a:rect l="l" t="t" r="r" b="b"/>
              <a:pathLst>
                <a:path w="2620949" h="1924392">
                  <a:moveTo>
                    <a:pt x="0" y="0"/>
                  </a:moveTo>
                  <a:lnTo>
                    <a:pt x="2620949" y="0"/>
                  </a:lnTo>
                  <a:lnTo>
                    <a:pt x="2620949" y="1924392"/>
                  </a:lnTo>
                  <a:lnTo>
                    <a:pt x="0" y="1924392"/>
                  </a:lnTo>
                  <a:close/>
                </a:path>
              </a:pathLst>
            </a:custGeom>
            <a:solidFill>
              <a:srgbClr val="FFFFFF">
                <a:alpha val="1098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620949" cy="19720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 flipH="1">
            <a:off x="-665027" y="-732621"/>
            <a:ext cx="6304504" cy="3522642"/>
          </a:xfrm>
          <a:custGeom>
            <a:avLst/>
            <a:gdLst/>
            <a:ahLst/>
            <a:cxnLst/>
            <a:rect l="l" t="t" r="r" b="b"/>
            <a:pathLst>
              <a:path w="6304504" h="3522642">
                <a:moveTo>
                  <a:pt x="6304504" y="0"/>
                </a:moveTo>
                <a:lnTo>
                  <a:pt x="0" y="0"/>
                </a:lnTo>
                <a:lnTo>
                  <a:pt x="0" y="3522642"/>
                </a:lnTo>
                <a:lnTo>
                  <a:pt x="6304504" y="3522642"/>
                </a:lnTo>
                <a:lnTo>
                  <a:pt x="630450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15110" y="4431004"/>
            <a:ext cx="5514422" cy="4638569"/>
          </a:xfrm>
          <a:custGeom>
            <a:avLst/>
            <a:gdLst/>
            <a:ahLst/>
            <a:cxnLst/>
            <a:rect l="l" t="t" r="r" b="b"/>
            <a:pathLst>
              <a:path w="5514422" h="4638569">
                <a:moveTo>
                  <a:pt x="0" y="0"/>
                </a:moveTo>
                <a:lnTo>
                  <a:pt x="5514422" y="0"/>
                </a:lnTo>
                <a:lnTo>
                  <a:pt x="5514422" y="4638569"/>
                </a:lnTo>
                <a:lnTo>
                  <a:pt x="0" y="46385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8641670" y="2185148"/>
            <a:ext cx="7542744" cy="870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39"/>
              </a:lnSpc>
              <a:spcBef>
                <a:spcPct val="0"/>
              </a:spcBef>
            </a:pPr>
            <a:r>
              <a:rPr lang="en-US" sz="5099">
                <a:solidFill>
                  <a:srgbClr val="FFFFFF"/>
                </a:solidFill>
                <a:latin typeface="Architype Van Der Leck"/>
                <a:ea typeface="Architype Van Der Leck"/>
                <a:cs typeface="Architype Van Der Leck"/>
                <a:sym typeface="Architype Van Der Leck"/>
              </a:rPr>
              <a:t>Models used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20007" y="3405905"/>
            <a:ext cx="8405640" cy="4011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97"/>
              </a:lnSpc>
            </a:pPr>
            <a:endParaRPr/>
          </a:p>
          <a:p>
            <a:pPr algn="just">
              <a:lnSpc>
                <a:spcPts val="3597"/>
              </a:lnSpc>
            </a:pPr>
            <a:r>
              <a:rPr lang="en-US" sz="2569" b="1">
                <a:solidFill>
                  <a:srgbClr val="004AAD"/>
                </a:solidFill>
                <a:latin typeface="Tomorrow Bold"/>
                <a:ea typeface="Tomorrow Bold"/>
                <a:cs typeface="Tomorrow Bold"/>
                <a:sym typeface="Tomorrow Bold"/>
              </a:rPr>
              <a:t>Embedding Model:</a:t>
            </a:r>
          </a:p>
          <a:p>
            <a:pPr algn="just">
              <a:lnSpc>
                <a:spcPts val="3597"/>
              </a:lnSpc>
            </a:pPr>
            <a:r>
              <a:rPr lang="en-US" sz="256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sentence-transformers/all-MiniLM-L6-v2</a:t>
            </a:r>
          </a:p>
          <a:p>
            <a:pPr algn="just">
              <a:lnSpc>
                <a:spcPts val="3597"/>
              </a:lnSpc>
            </a:pPr>
            <a:r>
              <a:rPr lang="en-US" sz="256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Used for embeddings and semantic search.</a:t>
            </a:r>
          </a:p>
          <a:p>
            <a:pPr algn="just">
              <a:lnSpc>
                <a:spcPts val="3597"/>
              </a:lnSpc>
            </a:pPr>
            <a:endParaRPr lang="en-US" sz="2569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just">
              <a:lnSpc>
                <a:spcPts val="3597"/>
              </a:lnSpc>
            </a:pPr>
            <a:r>
              <a:rPr lang="en-US" sz="2569" b="1">
                <a:solidFill>
                  <a:srgbClr val="004AAD"/>
                </a:solidFill>
                <a:latin typeface="Tomorrow Bold"/>
                <a:ea typeface="Tomorrow Bold"/>
                <a:cs typeface="Tomorrow Bold"/>
                <a:sym typeface="Tomorrow Bold"/>
              </a:rPr>
              <a:t>Generation Model:</a:t>
            </a:r>
          </a:p>
          <a:p>
            <a:pPr algn="just">
              <a:lnSpc>
                <a:spcPts val="3597"/>
              </a:lnSpc>
            </a:pPr>
            <a:r>
              <a:rPr lang="en-US" sz="256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Qwen/Qwen2.5-7B-Instruct</a:t>
            </a:r>
          </a:p>
          <a:p>
            <a:pPr algn="just">
              <a:lnSpc>
                <a:spcPts val="3597"/>
              </a:lnSpc>
            </a:pPr>
            <a:r>
              <a:rPr lang="en-US" sz="256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Used to generate the final response.</a:t>
            </a:r>
          </a:p>
          <a:p>
            <a:pPr algn="just">
              <a:lnSpc>
                <a:spcPts val="3597"/>
              </a:lnSpc>
            </a:pPr>
            <a:endParaRPr lang="en-US" sz="2569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grpSp>
        <p:nvGrpSpPr>
          <p:cNvPr id="10" name="Group 10"/>
          <p:cNvGrpSpPr/>
          <p:nvPr/>
        </p:nvGrpSpPr>
        <p:grpSpPr>
          <a:xfrm rot="-5400000">
            <a:off x="6139221" y="3290237"/>
            <a:ext cx="686516" cy="705894"/>
            <a:chOff x="0" y="0"/>
            <a:chExt cx="196825" cy="2023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6825" cy="202381"/>
            </a:xfrm>
            <a:custGeom>
              <a:avLst/>
              <a:gdLst/>
              <a:ahLst/>
              <a:cxnLst/>
              <a:rect l="l" t="t" r="r" b="b"/>
              <a:pathLst>
                <a:path w="196825" h="202381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5400000">
            <a:off x="7083521" y="2507921"/>
            <a:ext cx="575234" cy="520425"/>
            <a:chOff x="0" y="0"/>
            <a:chExt cx="164921" cy="14920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4921" cy="149207"/>
            </a:xfrm>
            <a:custGeom>
              <a:avLst/>
              <a:gdLst/>
              <a:ahLst/>
              <a:cxnLst/>
              <a:rect l="l" t="t" r="r" b="b"/>
              <a:pathLst>
                <a:path w="164921" h="149207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5400000">
            <a:off x="7531346" y="3856024"/>
            <a:ext cx="284953" cy="274803"/>
            <a:chOff x="0" y="0"/>
            <a:chExt cx="81697" cy="7878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5400000">
            <a:off x="17116823" y="7881739"/>
            <a:ext cx="284953" cy="274803"/>
            <a:chOff x="0" y="0"/>
            <a:chExt cx="81697" cy="7878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5400000">
            <a:off x="16383171" y="8506938"/>
            <a:ext cx="284953" cy="274803"/>
            <a:chOff x="0" y="0"/>
            <a:chExt cx="81697" cy="7878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322725" y="3036716"/>
            <a:ext cx="4748811" cy="5374819"/>
          </a:xfrm>
          <a:custGeom>
            <a:avLst/>
            <a:gdLst/>
            <a:ahLst/>
            <a:cxnLst/>
            <a:rect l="l" t="t" r="r" b="b"/>
            <a:pathLst>
              <a:path w="4748811" h="5374819">
                <a:moveTo>
                  <a:pt x="0" y="0"/>
                </a:moveTo>
                <a:lnTo>
                  <a:pt x="4748811" y="0"/>
                </a:lnTo>
                <a:lnTo>
                  <a:pt x="4748811" y="5374819"/>
                </a:lnTo>
                <a:lnTo>
                  <a:pt x="0" y="53748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656510"/>
            <a:ext cx="15386935" cy="8916723"/>
            <a:chOff x="0" y="0"/>
            <a:chExt cx="4052526" cy="234843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52526" cy="2348437"/>
            </a:xfrm>
            <a:custGeom>
              <a:avLst/>
              <a:gdLst/>
              <a:ahLst/>
              <a:cxnLst/>
              <a:rect l="l" t="t" r="r" b="b"/>
              <a:pathLst>
                <a:path w="4052526" h="2348437">
                  <a:moveTo>
                    <a:pt x="0" y="0"/>
                  </a:moveTo>
                  <a:lnTo>
                    <a:pt x="4052526" y="0"/>
                  </a:lnTo>
                  <a:lnTo>
                    <a:pt x="4052526" y="2348437"/>
                  </a:lnTo>
                  <a:lnTo>
                    <a:pt x="0" y="2348437"/>
                  </a:lnTo>
                  <a:close/>
                </a:path>
              </a:pathLst>
            </a:custGeom>
            <a:solidFill>
              <a:srgbClr val="FFFFFF">
                <a:alpha val="1098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052526" cy="23960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29460" y="927864"/>
            <a:ext cx="11513707" cy="1775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39"/>
              </a:lnSpc>
              <a:spcBef>
                <a:spcPct val="0"/>
              </a:spcBef>
            </a:pPr>
            <a:r>
              <a:rPr lang="en-US" sz="5099">
                <a:solidFill>
                  <a:srgbClr val="FFFFFF"/>
                </a:solidFill>
                <a:latin typeface="Architype Van Der Leck"/>
                <a:ea typeface="Architype Van Der Leck"/>
                <a:cs typeface="Architype Van Der Leck"/>
                <a:sym typeface="Architype Van Der Leck"/>
              </a:rPr>
              <a:t>T</a:t>
            </a:r>
            <a:r>
              <a:rPr lang="en-US" sz="5099" u="none" strike="noStrike">
                <a:solidFill>
                  <a:srgbClr val="FFFFFF"/>
                </a:solidFill>
                <a:latin typeface="Architype Van Der Leck"/>
                <a:ea typeface="Architype Van Der Leck"/>
                <a:cs typeface="Architype Van Der Leck"/>
                <a:sym typeface="Architype Van Der Leck"/>
              </a:rPr>
              <a:t>echnologies &amp; System Architecture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69546" y="2979566"/>
            <a:ext cx="4208957" cy="3060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67"/>
              </a:lnSpc>
            </a:pPr>
            <a:r>
              <a:rPr lang="en-US" sz="247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Python</a:t>
            </a:r>
          </a:p>
          <a:p>
            <a:pPr algn="just">
              <a:lnSpc>
                <a:spcPts val="3467"/>
              </a:lnSpc>
            </a:pPr>
            <a:r>
              <a:rPr lang="en-US" sz="247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Streamlit</a:t>
            </a:r>
          </a:p>
          <a:p>
            <a:pPr algn="just">
              <a:lnSpc>
                <a:spcPts val="3467"/>
              </a:lnSpc>
            </a:pPr>
            <a:r>
              <a:rPr lang="en-US" sz="247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LangChain</a:t>
            </a:r>
          </a:p>
          <a:p>
            <a:pPr algn="just">
              <a:lnSpc>
                <a:spcPts val="3467"/>
              </a:lnSpc>
            </a:pPr>
            <a:r>
              <a:rPr lang="en-US" sz="247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Hugging Face</a:t>
            </a:r>
          </a:p>
          <a:p>
            <a:pPr algn="just">
              <a:lnSpc>
                <a:spcPts val="3467"/>
              </a:lnSpc>
            </a:pPr>
            <a:r>
              <a:rPr lang="en-US" sz="247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FAISS</a:t>
            </a:r>
          </a:p>
          <a:p>
            <a:pPr algn="just">
              <a:lnSpc>
                <a:spcPts val="3467"/>
              </a:lnSpc>
            </a:pPr>
            <a:r>
              <a:rPr lang="en-US" sz="247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PyMuPDF</a:t>
            </a:r>
          </a:p>
          <a:p>
            <a:pPr algn="just">
              <a:lnSpc>
                <a:spcPts val="3467"/>
              </a:lnSpc>
            </a:pPr>
            <a:r>
              <a:rPr lang="en-US" sz="247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HTML / CSS / JavaScript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12322725" y="0"/>
            <a:ext cx="6304504" cy="3522642"/>
          </a:xfrm>
          <a:custGeom>
            <a:avLst/>
            <a:gdLst/>
            <a:ahLst/>
            <a:cxnLst/>
            <a:rect l="l" t="t" r="r" b="b"/>
            <a:pathLst>
              <a:path w="6304504" h="3522642">
                <a:moveTo>
                  <a:pt x="0" y="0"/>
                </a:moveTo>
                <a:lnTo>
                  <a:pt x="6304504" y="0"/>
                </a:lnTo>
                <a:lnTo>
                  <a:pt x="6304504" y="3522642"/>
                </a:lnTo>
                <a:lnTo>
                  <a:pt x="0" y="35226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 rot="-5400000">
            <a:off x="197543" y="7565870"/>
            <a:ext cx="686516" cy="705894"/>
            <a:chOff x="0" y="0"/>
            <a:chExt cx="196825" cy="2023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6825" cy="202381"/>
            </a:xfrm>
            <a:custGeom>
              <a:avLst/>
              <a:gdLst/>
              <a:ahLst/>
              <a:cxnLst/>
              <a:rect l="l" t="t" r="r" b="b"/>
              <a:pathLst>
                <a:path w="196825" h="202381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5400000">
            <a:off x="1141843" y="6783554"/>
            <a:ext cx="575234" cy="520425"/>
            <a:chOff x="0" y="0"/>
            <a:chExt cx="164921" cy="14920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4921" cy="149207"/>
            </a:xfrm>
            <a:custGeom>
              <a:avLst/>
              <a:gdLst/>
              <a:ahLst/>
              <a:cxnLst/>
              <a:rect l="l" t="t" r="r" b="b"/>
              <a:pathLst>
                <a:path w="164921" h="149207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5400000">
            <a:off x="1589668" y="8131657"/>
            <a:ext cx="284953" cy="274803"/>
            <a:chOff x="0" y="0"/>
            <a:chExt cx="81697" cy="7878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5400000">
            <a:off x="11177110" y="5106323"/>
            <a:ext cx="284953" cy="274803"/>
            <a:chOff x="0" y="0"/>
            <a:chExt cx="81697" cy="7878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5400000">
            <a:off x="11686818" y="5729201"/>
            <a:ext cx="284953" cy="274803"/>
            <a:chOff x="0" y="0"/>
            <a:chExt cx="81697" cy="7878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699462" y="3292224"/>
            <a:ext cx="7243706" cy="5439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User Interface</a:t>
            </a:r>
          </a:p>
          <a:p>
            <a:pPr algn="ctr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Streamlit</a:t>
            </a:r>
          </a:p>
          <a:p>
            <a:pPr algn="ctr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     ↓</a:t>
            </a:r>
          </a:p>
          <a:p>
            <a:pPr algn="ctr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Application Logic</a:t>
            </a:r>
          </a:p>
          <a:p>
            <a:pPr algn="ctr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Appliance / Maintenance / Repair</a:t>
            </a:r>
          </a:p>
          <a:p>
            <a:pPr algn="ctr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     ↓</a:t>
            </a:r>
          </a:p>
          <a:p>
            <a:pPr algn="ctr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AI Processing</a:t>
            </a:r>
          </a:p>
          <a:p>
            <a:pPr algn="ctr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PyMuPDF + LangChain + FAISS + Hugging Face</a:t>
            </a:r>
          </a:p>
          <a:p>
            <a:pPr algn="ctr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     ↓</a:t>
            </a:r>
          </a:p>
          <a:p>
            <a:pPr algn="ctr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Data Storage</a:t>
            </a:r>
          </a:p>
          <a:p>
            <a:pPr algn="ctr">
              <a:lnSpc>
                <a:spcPts val="3622"/>
              </a:lnSpc>
              <a:spcBef>
                <a:spcPct val="0"/>
              </a:spcBef>
            </a:pPr>
            <a:endParaRPr lang="en-US" sz="2587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355</Words>
  <Application>Microsoft Office PowerPoint</Application>
  <PresentationFormat>Custom</PresentationFormat>
  <Paragraphs>89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Tomorrow Bold</vt:lpstr>
      <vt:lpstr>Architype Van Der Leck</vt:lpstr>
      <vt:lpstr>Tomorrow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Blue and White Dynamic Technology Presentation</dc:title>
  <cp:lastModifiedBy>Retaj Ali</cp:lastModifiedBy>
  <cp:revision>2</cp:revision>
  <dcterms:created xsi:type="dcterms:W3CDTF">2006-08-16T00:00:00Z</dcterms:created>
  <dcterms:modified xsi:type="dcterms:W3CDTF">2026-07-29T09:08:18Z</dcterms:modified>
  <dc:identifier>DAHQhkCL25s</dc:identifier>
</cp:coreProperties>
</file>